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833" r:id="rId4"/>
  </p:sldMasterIdLst>
  <p:notesMasterIdLst>
    <p:notesMasterId r:id="rId22"/>
  </p:notesMasterIdLst>
  <p:handoutMasterIdLst>
    <p:handoutMasterId r:id="rId23"/>
  </p:handoutMasterIdLst>
  <p:sldIdLst>
    <p:sldId id="258" r:id="rId5"/>
    <p:sldId id="2452" r:id="rId6"/>
    <p:sldId id="259" r:id="rId7"/>
    <p:sldId id="2478" r:id="rId8"/>
    <p:sldId id="2469" r:id="rId9"/>
    <p:sldId id="2471" r:id="rId10"/>
    <p:sldId id="2455" r:id="rId11"/>
    <p:sldId id="2473" r:id="rId12"/>
    <p:sldId id="2474" r:id="rId13"/>
    <p:sldId id="2439" r:id="rId14"/>
    <p:sldId id="2475" r:id="rId15"/>
    <p:sldId id="2476" r:id="rId16"/>
    <p:sldId id="2445" r:id="rId17"/>
    <p:sldId id="2500" r:id="rId18"/>
    <p:sldId id="2480" r:id="rId19"/>
    <p:sldId id="2501" r:id="rId20"/>
    <p:sldId id="24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2683C6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84" autoAdjust="0"/>
  </p:normalViewPr>
  <p:slideViewPr>
    <p:cSldViewPr snapToGrid="0">
      <p:cViewPr varScale="1">
        <p:scale>
          <a:sx n="75" d="100"/>
          <a:sy n="75" d="100"/>
        </p:scale>
        <p:origin x="54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>
            <a:extLst>
              <a:ext uri="{FF2B5EF4-FFF2-40B4-BE49-F238E27FC236}">
                <a16:creationId xmlns:a16="http://schemas.microsoft.com/office/drawing/2014/main" id="{E7E94348-3BFC-4B39-9C3B-628E777B98F4}"/>
              </a:ext>
            </a:extLst>
          </p:cNvPr>
          <p:cNvSpPr/>
          <p:nvPr userDrawn="1"/>
        </p:nvSpPr>
        <p:spPr>
          <a:xfrm>
            <a:off x="0" y="0"/>
            <a:ext cx="6107906" cy="6858000"/>
          </a:xfrm>
          <a:custGeom>
            <a:avLst/>
            <a:gdLst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610790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23338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593309 w 6107906"/>
              <a:gd name="connsiteY2" fmla="*/ 6848272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1517515 w 6107906"/>
              <a:gd name="connsiteY0" fmla="*/ 0 h 6858000"/>
              <a:gd name="connsiteX1" fmla="*/ 6107906 w 6107906"/>
              <a:gd name="connsiteY1" fmla="*/ 0 h 6858000"/>
              <a:gd name="connsiteX2" fmla="*/ 4593309 w 6107906"/>
              <a:gd name="connsiteY2" fmla="*/ 6848272 h 6858000"/>
              <a:gd name="connsiteX3" fmla="*/ 0 w 6107906"/>
              <a:gd name="connsiteY3" fmla="*/ 6858000 h 6858000"/>
              <a:gd name="connsiteX4" fmla="*/ 1517515 w 610790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7906" h="6858000">
                <a:moveTo>
                  <a:pt x="1517515" y="0"/>
                </a:moveTo>
                <a:lnTo>
                  <a:pt x="6107906" y="0"/>
                </a:lnTo>
                <a:lnTo>
                  <a:pt x="4593309" y="6848272"/>
                </a:lnTo>
                <a:lnTo>
                  <a:pt x="0" y="6858000"/>
                </a:lnTo>
                <a:lnTo>
                  <a:pt x="1517515" y="0"/>
                </a:lnTo>
                <a:close/>
              </a:path>
            </a:pathLst>
          </a:cu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782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15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>
            <a:extLst>
              <a:ext uri="{FF2B5EF4-FFF2-40B4-BE49-F238E27FC236}">
                <a16:creationId xmlns:a16="http://schemas.microsoft.com/office/drawing/2014/main" id="{9AB66B20-A484-4A16-A015-2118F9AF2101}"/>
              </a:ext>
            </a:extLst>
          </p:cNvPr>
          <p:cNvSpPr/>
          <p:nvPr userDrawn="1"/>
        </p:nvSpPr>
        <p:spPr>
          <a:xfrm>
            <a:off x="0" y="0"/>
            <a:ext cx="6107906" cy="6858000"/>
          </a:xfrm>
          <a:custGeom>
            <a:avLst/>
            <a:gdLst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610790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23338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7906" h="6858000">
                <a:moveTo>
                  <a:pt x="0" y="0"/>
                </a:moveTo>
                <a:lnTo>
                  <a:pt x="6107906" y="0"/>
                </a:lnTo>
                <a:lnTo>
                  <a:pt x="423338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2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CCD8B1-7DA9-46E5-8EC4-7B1E0D7E9B20}"/>
              </a:ext>
            </a:extLst>
          </p:cNvPr>
          <p:cNvSpPr/>
          <p:nvPr userDrawn="1"/>
        </p:nvSpPr>
        <p:spPr>
          <a:xfrm>
            <a:off x="6084094" y="1189038"/>
            <a:ext cx="6107906" cy="5668962"/>
          </a:xfrm>
          <a:prstGeom prst="rect">
            <a:avLst/>
          </a:pr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1189038"/>
            <a:ext cx="6096000" cy="566896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9073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CCD8B1-7DA9-46E5-8EC4-7B1E0D7E9B20}"/>
              </a:ext>
            </a:extLst>
          </p:cNvPr>
          <p:cNvSpPr/>
          <p:nvPr userDrawn="1"/>
        </p:nvSpPr>
        <p:spPr>
          <a:xfrm>
            <a:off x="6084094" y="1189038"/>
            <a:ext cx="6107906" cy="5668962"/>
          </a:xfrm>
          <a:prstGeom prst="rect">
            <a:avLst/>
          </a:pr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1189038"/>
            <a:ext cx="6096000" cy="566896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0169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</a:t>
            </a:r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3C415-D670-4716-A5EC-CC4D52CA2BA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0591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3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5C68B11-C5A8-448C-8CE9-B1A273C79CF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0"/>
            <a:ext cx="5032374" cy="6858000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9127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0"/>
            <a:ext cx="5032374" cy="6858000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2475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8943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61639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242487" y="6833286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209064"/>
            <a:ext cx="5251450" cy="365125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20779"/>
            <a:ext cx="5251450" cy="1661297"/>
          </a:xfrm>
        </p:spPr>
        <p:txBody>
          <a:bodyPr anchor="ctr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055055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7754" y="365125"/>
            <a:ext cx="6043246" cy="573989"/>
          </a:xfrm>
        </p:spPr>
        <p:txBody>
          <a:bodyPr anchor="ctr">
            <a:noAutofit/>
          </a:bodyPr>
          <a:lstStyle>
            <a:lvl1pPr algn="l">
              <a:defRPr sz="3600" spc="300"/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754" y="1625512"/>
            <a:ext cx="6043246" cy="463639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/>
            </a:lvl1pPr>
            <a:lvl2pPr>
              <a:lnSpc>
                <a:spcPct val="150000"/>
              </a:lnSpc>
              <a:defRPr sz="1400"/>
            </a:lvl2pPr>
            <a:lvl3pPr>
              <a:lnSpc>
                <a:spcPct val="150000"/>
              </a:lnSpc>
              <a:defRPr sz="140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AAB964-0A56-4842-AA82-7610F726CD1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767754" y="1003687"/>
            <a:ext cx="6043246" cy="365125"/>
          </a:xfrm>
        </p:spPr>
        <p:txBody>
          <a:bodyPr anchor="ctr">
            <a:noAutofit/>
          </a:bodyPr>
          <a:lstStyle>
            <a:lvl1pPr marL="0" indent="0">
              <a:buNone/>
              <a:defRPr sz="20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859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30B2C-7250-4568-96CF-7E5A34B3C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20779"/>
            <a:ext cx="5251450" cy="1661297"/>
          </a:xfrm>
        </p:spPr>
        <p:txBody>
          <a:bodyPr anchor="ctr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209064"/>
            <a:ext cx="5251450" cy="365125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129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219AD9-34B1-4C27-8648-E7D7C69C0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365" y="3013675"/>
            <a:ext cx="10787270" cy="830649"/>
          </a:xfrm>
        </p:spPr>
        <p:txBody>
          <a:bodyPr anchor="ctr"/>
          <a:lstStyle>
            <a:lvl1pPr algn="ctr">
              <a:defRPr sz="60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0849B93-E2CE-4654-9EC7-7DFA141A55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70275" y="3890624"/>
            <a:ext cx="5251450" cy="36512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spc="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8323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0849B93-E2CE-4654-9EC7-7DFA141A55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04689" y="5038489"/>
            <a:ext cx="5933872" cy="36512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spc="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E94348-3BFC-4B39-9C3B-628E777B98F4}"/>
              </a:ext>
            </a:extLst>
          </p:cNvPr>
          <p:cNvSpPr/>
          <p:nvPr userDrawn="1"/>
        </p:nvSpPr>
        <p:spPr>
          <a:xfrm>
            <a:off x="0" y="0"/>
            <a:ext cx="6107906" cy="6858000"/>
          </a:xfrm>
          <a:custGeom>
            <a:avLst/>
            <a:gdLst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610790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23338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593309 w 6107906"/>
              <a:gd name="connsiteY2" fmla="*/ 6848272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1517515 w 6107906"/>
              <a:gd name="connsiteY0" fmla="*/ 0 h 6858000"/>
              <a:gd name="connsiteX1" fmla="*/ 6107906 w 6107906"/>
              <a:gd name="connsiteY1" fmla="*/ 0 h 6858000"/>
              <a:gd name="connsiteX2" fmla="*/ 4593309 w 6107906"/>
              <a:gd name="connsiteY2" fmla="*/ 6848272 h 6858000"/>
              <a:gd name="connsiteX3" fmla="*/ 0 w 6107906"/>
              <a:gd name="connsiteY3" fmla="*/ 6858000 h 6858000"/>
              <a:gd name="connsiteX4" fmla="*/ 1517515 w 610790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7906" h="6858000">
                <a:moveTo>
                  <a:pt x="1517515" y="0"/>
                </a:moveTo>
                <a:lnTo>
                  <a:pt x="6107906" y="0"/>
                </a:lnTo>
                <a:lnTo>
                  <a:pt x="4593309" y="6848272"/>
                </a:lnTo>
                <a:lnTo>
                  <a:pt x="0" y="6858000"/>
                </a:lnTo>
                <a:lnTo>
                  <a:pt x="1517515" y="0"/>
                </a:lnTo>
                <a:close/>
              </a:path>
            </a:pathLst>
          </a:cu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219AD9-34B1-4C27-8648-E7D7C69C0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4689" y="1546699"/>
            <a:ext cx="5933872" cy="3491790"/>
          </a:xfrm>
        </p:spPr>
        <p:txBody>
          <a:bodyPr anchor="ctr"/>
          <a:lstStyle>
            <a:lvl1pPr algn="ctr">
              <a:defRPr sz="6000" b="1" spc="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257312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B66B20-A484-4A16-A015-2118F9AF2101}"/>
              </a:ext>
            </a:extLst>
          </p:cNvPr>
          <p:cNvSpPr/>
          <p:nvPr userDrawn="1"/>
        </p:nvSpPr>
        <p:spPr>
          <a:xfrm>
            <a:off x="0" y="0"/>
            <a:ext cx="6107906" cy="6858000"/>
          </a:xfrm>
          <a:custGeom>
            <a:avLst/>
            <a:gdLst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610790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23338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7906" h="6858000">
                <a:moveTo>
                  <a:pt x="0" y="0"/>
                </a:moveTo>
                <a:lnTo>
                  <a:pt x="6107906" y="0"/>
                </a:lnTo>
                <a:lnTo>
                  <a:pt x="423338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209064"/>
            <a:ext cx="5251450" cy="365125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20779"/>
            <a:ext cx="5251450" cy="1661297"/>
          </a:xfrm>
        </p:spPr>
        <p:txBody>
          <a:bodyPr anchor="ctr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2457350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7944-63F0-4B2F-AD45-448C6DF7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DAC0D-26BC-4E19-94BF-7F158080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3BDE4-1CD0-AC4C-A2A9-C858427B0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7265051-1E5A-D844-BA21-38331551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19" y="1690117"/>
            <a:ext cx="10989920" cy="448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968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1CCD8B1-7DA9-46E5-8EC4-7B1E0D7E9B20}"/>
              </a:ext>
            </a:extLst>
          </p:cNvPr>
          <p:cNvSpPr/>
          <p:nvPr userDrawn="1"/>
        </p:nvSpPr>
        <p:spPr>
          <a:xfrm>
            <a:off x="6084094" y="1189038"/>
            <a:ext cx="6107906" cy="5668962"/>
          </a:xfrm>
          <a:prstGeom prst="rect">
            <a:avLst/>
          </a:pr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1189038"/>
            <a:ext cx="6096000" cy="566896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0"/>
            <a:ext cx="11002962" cy="1189038"/>
          </a:xfrm>
        </p:spPr>
        <p:txBody>
          <a:bodyPr>
            <a:normAutofit/>
          </a:bodyPr>
          <a:lstStyle>
            <a:lvl1pPr algn="ctr">
              <a:defRPr sz="3600" spc="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A91F3-AE43-4DDA-AB24-49CF87963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1827972"/>
            <a:ext cx="5157787" cy="494506"/>
          </a:xfrm>
        </p:spPr>
        <p:txBody>
          <a:bodyPr lIns="0" tIns="0" rIns="0" bIns="0" anchor="ctr"/>
          <a:lstStyle>
            <a:lvl1pPr marL="0" indent="0">
              <a:buNone/>
              <a:defRPr sz="2400" b="0" spc="60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648F6-CDB4-4032-9F98-6ED11F980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2342356"/>
            <a:ext cx="5157787" cy="3684588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F648F-0299-4352-914D-9ACEEF6FE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1827972"/>
            <a:ext cx="5183188" cy="494506"/>
          </a:xfrm>
        </p:spPr>
        <p:txBody>
          <a:bodyPr lIns="0" tIns="0" rIns="0" bIns="0" anchor="ctr"/>
          <a:lstStyle>
            <a:lvl1pPr marL="0" indent="0">
              <a:buNone/>
              <a:defRPr sz="2400" b="0" spc="60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215A19-FA39-4BD0-87C2-8DA3B8C58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2342356"/>
            <a:ext cx="5183188" cy="3684588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1CCD8B1-7DA9-46E5-8EC4-7B1E0D7E9B20}"/>
              </a:ext>
            </a:extLst>
          </p:cNvPr>
          <p:cNvSpPr/>
          <p:nvPr userDrawn="1"/>
        </p:nvSpPr>
        <p:spPr>
          <a:xfrm>
            <a:off x="6084094" y="1189038"/>
            <a:ext cx="6107906" cy="5668962"/>
          </a:xfrm>
          <a:prstGeom prst="rect">
            <a:avLst/>
          </a:pr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1189038"/>
            <a:ext cx="6096000" cy="566896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0"/>
            <a:ext cx="11002962" cy="1189038"/>
          </a:xfrm>
        </p:spPr>
        <p:txBody>
          <a:bodyPr>
            <a:normAutofit/>
          </a:bodyPr>
          <a:lstStyle>
            <a:lvl1pPr algn="ctr">
              <a:defRPr sz="3600" spc="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B178DD2-BCD4-4E9E-8EAA-0A3AB74C6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4519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B7D881D-13DE-4377-AA74-0EBFD9C99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5881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47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0"/>
            <a:ext cx="5032374" cy="6858000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801277"/>
            <a:ext cx="3932238" cy="1583703"/>
          </a:xfrm>
        </p:spPr>
        <p:txBody>
          <a:bodyPr>
            <a:normAutofit/>
          </a:bodyPr>
          <a:lstStyle>
            <a:lvl1pPr algn="l">
              <a:defRPr sz="36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B8C1683-B5FA-422D-82FD-3E04C0D01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80552"/>
            <a:ext cx="3932237" cy="338843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4332CC6-AF18-49EE-9933-50E3E93F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801277"/>
            <a:ext cx="6565106" cy="505977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941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0"/>
            <a:ext cx="5032374" cy="6858000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801277"/>
            <a:ext cx="3932238" cy="1583703"/>
          </a:xfrm>
        </p:spPr>
        <p:txBody>
          <a:bodyPr>
            <a:normAutofit/>
          </a:bodyPr>
          <a:lstStyle>
            <a:lvl1pPr algn="l">
              <a:defRPr sz="36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3C3E625-3996-4407-8E4D-475EF610D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84980"/>
            <a:ext cx="3932237" cy="348400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E87E45D5-103F-4407-822F-E7FAE02D6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01277"/>
            <a:ext cx="6565106" cy="505977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623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6FC21-A32D-44DC-BED7-08CEBB3B90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C6D2B-0FF5-4A5F-A062-480FFA6DA0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73C415-D670-4716-A5EC-CC4D52CA2BAC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8A396-E30B-644A-8E9F-E9BED5E867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882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 61">
            <a:extLst>
              <a:ext uri="{FF2B5EF4-FFF2-40B4-BE49-F238E27FC236}">
                <a16:creationId xmlns:a16="http://schemas.microsoft.com/office/drawing/2014/main" id="{0A2ACE11-44E0-44ED-AA10-CB0B57204E89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rgbClr val="2C2153"/>
                </a:solidFill>
                <a:latin typeface="+mn-lt"/>
                <a:ea typeface="+mn-ea"/>
                <a:cs typeface="+mn-cs"/>
                <a:sym typeface="Bebas"/>
              </a:rPr>
              <a:t>FAB</a:t>
            </a:r>
            <a:r>
              <a:rPr lang="en-US" sz="2400" b="1" kern="1200" dirty="0">
                <a:solidFill>
                  <a:srgbClr val="A53F52"/>
                </a:solidFill>
                <a:latin typeface="+mn-lt"/>
                <a:ea typeface="+mn-ea"/>
                <a:cs typeface="+mn-cs"/>
                <a:sym typeface="Bebas"/>
              </a:rPr>
              <a:t>RIKAM</a:t>
            </a:r>
            <a:endParaRPr lang="en-US" sz="2400" b="1" i="0" spc="0" dirty="0">
              <a:solidFill>
                <a:srgbClr val="A53F52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9581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9" r:id="rId15"/>
    <p:sldLayoutId id="2147483674" r:id="rId16"/>
    <p:sldLayoutId id="2147483675" r:id="rId17"/>
    <p:sldLayoutId id="2147483673" r:id="rId18"/>
    <p:sldLayoutId id="2147483653" r:id="rId19"/>
    <p:sldLayoutId id="2147483670" r:id="rId20"/>
    <p:sldLayoutId id="2147483671" r:id="rId21"/>
    <p:sldLayoutId id="2147483672" r:id="rId22"/>
    <p:sldLayoutId id="2147483669" r:id="rId23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A6DEC-302B-49C8-AC11-FD6F37AFA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4890" y="4912728"/>
            <a:ext cx="2941710" cy="365125"/>
          </a:xfrm>
        </p:spPr>
        <p:txBody>
          <a:bodyPr>
            <a:noAutofit/>
          </a:bodyPr>
          <a:lstStyle/>
          <a:p>
            <a:r>
              <a:rPr lang="en-US" sz="1800" b="1" spc="0" dirty="0" smtClean="0">
                <a:solidFill>
                  <a:schemeClr val="tx1"/>
                </a:solidFill>
              </a:rPr>
              <a:t>Date</a:t>
            </a:r>
            <a:r>
              <a:rPr lang="en-US" sz="1800" spc="0" dirty="0" smtClean="0">
                <a:solidFill>
                  <a:schemeClr val="tx1"/>
                </a:solidFill>
              </a:rPr>
              <a:t>: December 2025</a:t>
            </a:r>
            <a:endParaRPr lang="en-US" sz="1800" spc="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845" y="3700234"/>
            <a:ext cx="5406195" cy="78502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spc="0" dirty="0" smtClean="0"/>
              <a:t>Analysis Project</a:t>
            </a:r>
            <a:endParaRPr lang="en-US" sz="4000" spc="0" dirty="0"/>
          </a:p>
        </p:txBody>
      </p:sp>
      <p:sp>
        <p:nvSpPr>
          <p:cNvPr id="9" name="Rounded Rectangle 8"/>
          <p:cNvSpPr/>
          <p:nvPr/>
        </p:nvSpPr>
        <p:spPr>
          <a:xfrm>
            <a:off x="10032219" y="6451600"/>
            <a:ext cx="1993900" cy="3048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62" y="2520603"/>
            <a:ext cx="4753638" cy="1314633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8CA6DEC-302B-49C8-AC11-FD6F37AFA854}"/>
              </a:ext>
            </a:extLst>
          </p:cNvPr>
          <p:cNvSpPr txBox="1">
            <a:spLocks/>
          </p:cNvSpPr>
          <p:nvPr/>
        </p:nvSpPr>
        <p:spPr>
          <a:xfrm>
            <a:off x="1604890" y="4597377"/>
            <a:ext cx="3348110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spc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spc="0" dirty="0" smtClean="0">
                <a:solidFill>
                  <a:schemeClr val="tx1"/>
                </a:solidFill>
              </a:rPr>
              <a:t>Presented by: </a:t>
            </a:r>
            <a:r>
              <a:rPr lang="en-US" sz="1800" spc="0" dirty="0" smtClean="0">
                <a:solidFill>
                  <a:schemeClr val="tx1"/>
                </a:solidFill>
              </a:rPr>
              <a:t>Deborah Matthew</a:t>
            </a:r>
            <a:endParaRPr lang="en-US" sz="1800" spc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50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3F530F9-BDB1-49E4-9EFF-B9535CF6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166" y="1057851"/>
            <a:ext cx="3920734" cy="57398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+mn-lt"/>
              </a:rPr>
              <a:t>Table of content</a:t>
            </a:r>
            <a:endParaRPr lang="en-US" sz="3200" b="1" dirty="0"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6319DF-036A-473B-95D3-C5F6FF849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1686" y="2171700"/>
            <a:ext cx="4492914" cy="334010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smtClean="0">
                <a:solidFill>
                  <a:schemeClr val="tx1"/>
                </a:solidFill>
              </a:rPr>
              <a:t>Objective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Data Presentation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71" name="Slide Number Placeholder 70">
            <a:extLst>
              <a:ext uri="{FF2B5EF4-FFF2-40B4-BE49-F238E27FC236}">
                <a16:creationId xmlns:a16="http://schemas.microsoft.com/office/drawing/2014/main" id="{D222F862-D4C8-42C6-BB64-662A73425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9263498" y="6468303"/>
            <a:ext cx="2928502" cy="365125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10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3F530F9-BDB1-49E4-9EFF-B9535CF6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365" y="1121351"/>
            <a:ext cx="2804746" cy="57398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+mn-lt"/>
              </a:rPr>
              <a:t>Objective</a:t>
            </a:r>
            <a:endParaRPr lang="en-US" sz="3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6319DF-036A-473B-95D3-C5F6FF849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277595"/>
            <a:ext cx="9918700" cy="1443505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The objective of this analysis is to examine Fitbit smart device usage data to identify trends in user activity, sleep, and overall wellness </a:t>
            </a:r>
            <a:r>
              <a:rPr lang="en-GB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behaviour.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71" name="Slide Number Placeholder 70">
            <a:extLst>
              <a:ext uri="{FF2B5EF4-FFF2-40B4-BE49-F238E27FC236}">
                <a16:creationId xmlns:a16="http://schemas.microsoft.com/office/drawing/2014/main" id="{D222F862-D4C8-42C6-BB64-662A73425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9829800" y="6427028"/>
            <a:ext cx="2362199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37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5442" y="2353330"/>
            <a:ext cx="4617041" cy="1669769"/>
          </a:xfrm>
        </p:spPr>
        <p:txBody>
          <a:bodyPr>
            <a:normAutofit/>
          </a:bodyPr>
          <a:lstStyle/>
          <a:p>
            <a:r>
              <a:rPr lang="en-US" sz="4000" b="1" spc="0" dirty="0" smtClean="0">
                <a:latin typeface="Arial" panose="020B0604020202020204" pitchFamily="34" charset="0"/>
                <a:cs typeface="Arial" panose="020B0604020202020204" pitchFamily="34" charset="0"/>
              </a:rPr>
              <a:t>Data Presentation</a:t>
            </a:r>
            <a:endParaRPr lang="en-US" sz="4000" b="1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28701" y="1552409"/>
            <a:ext cx="10265416" cy="54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/>
          <p:cNvSpPr/>
          <p:nvPr/>
        </p:nvSpPr>
        <p:spPr>
          <a:xfrm>
            <a:off x="9930619" y="6427028"/>
            <a:ext cx="1993900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863601"/>
            <a:ext cx="5005250" cy="51844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85" y="1552409"/>
            <a:ext cx="5175953" cy="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9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A4E49AC7-7A73-4B51-BDF6-EABA3162F4B7}"/>
              </a:ext>
            </a:extLst>
          </p:cNvPr>
          <p:cNvSpPr txBox="1">
            <a:spLocks/>
          </p:cNvSpPr>
          <p:nvPr/>
        </p:nvSpPr>
        <p:spPr>
          <a:xfrm>
            <a:off x="3752556" y="559446"/>
            <a:ext cx="7550443" cy="344465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spc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spc="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900458" y="6418510"/>
            <a:ext cx="2261381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1212"/>
          <a:stretch/>
        </p:blipFill>
        <p:spPr>
          <a:xfrm>
            <a:off x="4389282" y="1549400"/>
            <a:ext cx="7027955" cy="3454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91551" y="1651000"/>
            <a:ext cx="10020932" cy="105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203200" y="1845803"/>
            <a:ext cx="3737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 Rounded MT Bold" panose="020F0704030504030204" pitchFamily="34" charset="0"/>
              </a:rPr>
              <a:t>User Activity Categories</a:t>
            </a:r>
            <a:endParaRPr lang="en-GB" sz="2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A4E49AC7-7A73-4B51-BDF6-EABA3162F4B7}"/>
              </a:ext>
            </a:extLst>
          </p:cNvPr>
          <p:cNvSpPr txBox="1">
            <a:spLocks/>
          </p:cNvSpPr>
          <p:nvPr/>
        </p:nvSpPr>
        <p:spPr>
          <a:xfrm>
            <a:off x="3752556" y="559446"/>
            <a:ext cx="7550443" cy="344465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spc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spc="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900458" y="6418510"/>
            <a:ext cx="2261381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1212"/>
          <a:stretch/>
        </p:blipFill>
        <p:spPr>
          <a:xfrm>
            <a:off x="4389282" y="1549400"/>
            <a:ext cx="7027955" cy="3454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91551" y="1651000"/>
            <a:ext cx="10020932" cy="105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203200" y="1845803"/>
            <a:ext cx="3737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 Rounded MT Bold" panose="020F0704030504030204" pitchFamily="34" charset="0"/>
              </a:rPr>
              <a:t>User Activity Categories</a:t>
            </a:r>
            <a:endParaRPr lang="en-GB" sz="2000" dirty="0">
              <a:latin typeface="Arial Rounded MT Bold" panose="020F07040305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6318" y="2526770"/>
            <a:ext cx="36044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Most Users are fairly or lightly active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 significant share of users are below recommended activity levels.</a:t>
            </a:r>
            <a:endParaRPr lang="en-US" dirty="0"/>
          </a:p>
        </p:txBody>
      </p:sp>
      <p:sp>
        <p:nvSpPr>
          <p:cNvPr id="2" name="Right Arrow 1"/>
          <p:cNvSpPr/>
          <p:nvPr/>
        </p:nvSpPr>
        <p:spPr>
          <a:xfrm rot="8652136">
            <a:off x="11154566" y="1524251"/>
            <a:ext cx="498271" cy="1886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3701" y="2379851"/>
            <a:ext cx="457240" cy="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8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A4E49AC7-7A73-4B51-BDF6-EABA3162F4B7}"/>
              </a:ext>
            </a:extLst>
          </p:cNvPr>
          <p:cNvSpPr txBox="1">
            <a:spLocks/>
          </p:cNvSpPr>
          <p:nvPr/>
        </p:nvSpPr>
        <p:spPr>
          <a:xfrm>
            <a:off x="3752556" y="559446"/>
            <a:ext cx="7550443" cy="344465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spc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spc="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900458" y="6418510"/>
            <a:ext cx="2261381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191551" y="1651000"/>
            <a:ext cx="10020932" cy="105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0216"/>
          <a:stretch/>
        </p:blipFill>
        <p:spPr>
          <a:xfrm>
            <a:off x="4156606" y="1485900"/>
            <a:ext cx="7865428" cy="33982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4906" y="1556848"/>
            <a:ext cx="38217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Arial Rounded MT Bold" panose="020F0704030504030204" pitchFamily="34" charset="0"/>
              </a:rPr>
              <a:t>Activity by </a:t>
            </a:r>
            <a:r>
              <a:rPr lang="en-US" sz="2000" dirty="0" smtClean="0">
                <a:latin typeface="Arial Rounded MT Bold" panose="020F0704030504030204" pitchFamily="34" charset="0"/>
              </a:rPr>
              <a:t>weekday</a:t>
            </a:r>
            <a:endParaRPr lang="en-GB" sz="2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03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A4E49AC7-7A73-4B51-BDF6-EABA3162F4B7}"/>
              </a:ext>
            </a:extLst>
          </p:cNvPr>
          <p:cNvSpPr txBox="1">
            <a:spLocks/>
          </p:cNvSpPr>
          <p:nvPr/>
        </p:nvSpPr>
        <p:spPr>
          <a:xfrm>
            <a:off x="3752556" y="559446"/>
            <a:ext cx="7550443" cy="344465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spc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spc="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900458" y="6418510"/>
            <a:ext cx="2261381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191551" y="1651000"/>
            <a:ext cx="10020932" cy="105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0216"/>
          <a:stretch/>
        </p:blipFill>
        <p:spPr>
          <a:xfrm>
            <a:off x="4156606" y="1485900"/>
            <a:ext cx="7865428" cy="33982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4906" y="1556848"/>
            <a:ext cx="38217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Arial Rounded MT Bold" panose="020F0704030504030204" pitchFamily="34" charset="0"/>
              </a:rPr>
              <a:t>Activity by </a:t>
            </a:r>
            <a:r>
              <a:rPr lang="en-US" sz="2000" dirty="0" smtClean="0">
                <a:latin typeface="Arial Rounded MT Bold" panose="020F0704030504030204" pitchFamily="34" charset="0"/>
              </a:rPr>
              <a:t>weekday</a:t>
            </a:r>
            <a:endParaRPr lang="en-GB" sz="2000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4906" y="2281772"/>
            <a:ext cx="3821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Activity peaks </a:t>
            </a:r>
            <a:r>
              <a:rPr lang="en-US" dirty="0"/>
              <a:t>on </a:t>
            </a:r>
            <a:r>
              <a:rPr lang="en-US" dirty="0" smtClean="0"/>
              <a:t>Saturday, </a:t>
            </a:r>
            <a:r>
              <a:rPr lang="en-US" dirty="0"/>
              <a:t>while lower activity levels </a:t>
            </a:r>
            <a:r>
              <a:rPr lang="en-US" dirty="0" smtClean="0"/>
              <a:t>occur on </a:t>
            </a:r>
            <a:r>
              <a:rPr lang="en-US" dirty="0"/>
              <a:t>some </a:t>
            </a:r>
            <a:r>
              <a:rPr lang="en-US" dirty="0" smtClean="0"/>
              <a:t>weekdays.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This implies that users </a:t>
            </a:r>
            <a:r>
              <a:rPr lang="en-US" dirty="0"/>
              <a:t>are more active </a:t>
            </a:r>
            <a:r>
              <a:rPr lang="en-US" dirty="0" smtClean="0"/>
              <a:t>either when they </a:t>
            </a:r>
            <a:r>
              <a:rPr lang="en-US" dirty="0"/>
              <a:t>have </a:t>
            </a:r>
            <a:r>
              <a:rPr lang="en-US" dirty="0" smtClean="0"/>
              <a:t>more free time or when daily </a:t>
            </a:r>
            <a:r>
              <a:rPr lang="en-US" dirty="0"/>
              <a:t>routines are </a:t>
            </a:r>
            <a:r>
              <a:rPr lang="en-US" dirty="0" smtClean="0"/>
              <a:t>flexible.</a:t>
            </a:r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 rot="10800000">
            <a:off x="11707047" y="1556848"/>
            <a:ext cx="314985" cy="1567352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A4E49AC7-7A73-4B51-BDF6-EABA3162F4B7}"/>
              </a:ext>
            </a:extLst>
          </p:cNvPr>
          <p:cNvSpPr txBox="1">
            <a:spLocks/>
          </p:cNvSpPr>
          <p:nvPr/>
        </p:nvSpPr>
        <p:spPr>
          <a:xfrm>
            <a:off x="3752556" y="559446"/>
            <a:ext cx="7550443" cy="344465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spc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spc="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900458" y="6418510"/>
            <a:ext cx="2261381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1173"/>
          <a:stretch/>
        </p:blipFill>
        <p:spPr>
          <a:xfrm>
            <a:off x="114301" y="1727200"/>
            <a:ext cx="11938000" cy="35464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64485" y="1357868"/>
            <a:ext cx="26738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Activity </a:t>
            </a:r>
            <a:r>
              <a:rPr lang="en-US" sz="2000" dirty="0" smtClean="0">
                <a:latin typeface="Arial Rounded MT Bold" panose="020F0704030504030204" pitchFamily="34" charset="0"/>
              </a:rPr>
              <a:t>Peak Period</a:t>
            </a:r>
            <a:endParaRPr lang="en-GB" sz="2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61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A4E49AC7-7A73-4B51-BDF6-EABA3162F4B7}"/>
              </a:ext>
            </a:extLst>
          </p:cNvPr>
          <p:cNvSpPr txBox="1">
            <a:spLocks/>
          </p:cNvSpPr>
          <p:nvPr/>
        </p:nvSpPr>
        <p:spPr>
          <a:xfrm>
            <a:off x="3752556" y="559446"/>
            <a:ext cx="7550443" cy="344465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spc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spc="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900458" y="6418510"/>
            <a:ext cx="2261381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1173"/>
          <a:stretch/>
        </p:blipFill>
        <p:spPr>
          <a:xfrm>
            <a:off x="114301" y="1727200"/>
            <a:ext cx="11940276" cy="35433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64485" y="1357868"/>
            <a:ext cx="26738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Activity </a:t>
            </a:r>
            <a:r>
              <a:rPr lang="en-US" sz="2000" dirty="0" smtClean="0">
                <a:latin typeface="Arial Rounded MT Bold" panose="020F0704030504030204" pitchFamily="34" charset="0"/>
              </a:rPr>
              <a:t>Peak Period</a:t>
            </a:r>
            <a:endParaRPr lang="en-GB" sz="2000" dirty="0">
              <a:latin typeface="Arial Rounded MT Bold" panose="020F070403050403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902200" y="1905000"/>
            <a:ext cx="2374899" cy="145050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2082800" y="5278570"/>
            <a:ext cx="94360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follow natural daily routines, which include morning exercise and post-work </a:t>
            </a:r>
            <a:r>
              <a:rPr lang="en-US" dirty="0" smtClean="0"/>
              <a:t>movement.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 rot="10800000">
            <a:off x="9296400" y="2057991"/>
            <a:ext cx="203200" cy="819649"/>
          </a:xfrm>
          <a:prstGeom prst="downArrow">
            <a:avLst>
              <a:gd name="adj1" fmla="val 41936"/>
              <a:gd name="adj2" fmla="val 5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13" name="Down Arrow 12"/>
          <p:cNvSpPr/>
          <p:nvPr/>
        </p:nvSpPr>
        <p:spPr>
          <a:xfrm rot="10800000">
            <a:off x="4620366" y="1803582"/>
            <a:ext cx="174964" cy="826672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7790018" y="2877641"/>
            <a:ext cx="195660" cy="7661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21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A4E49AC7-7A73-4B51-BDF6-EABA3162F4B7}"/>
              </a:ext>
            </a:extLst>
          </p:cNvPr>
          <p:cNvSpPr txBox="1">
            <a:spLocks/>
          </p:cNvSpPr>
          <p:nvPr/>
        </p:nvSpPr>
        <p:spPr>
          <a:xfrm>
            <a:off x="3752556" y="559446"/>
            <a:ext cx="7550443" cy="344465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spc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spc="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900458" y="6418510"/>
            <a:ext cx="2261381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191551" y="1651000"/>
            <a:ext cx="10020932" cy="105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717" t="6896" b="1935"/>
          <a:stretch/>
        </p:blipFill>
        <p:spPr>
          <a:xfrm>
            <a:off x="4953000" y="1390694"/>
            <a:ext cx="6769748" cy="3892506"/>
          </a:xfrm>
          <a:prstGeom prst="rect">
            <a:avLst/>
          </a:prstGeom>
          <a:ln>
            <a:solidFill>
              <a:srgbClr val="01023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81001" y="1390694"/>
            <a:ext cx="4075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 Rounded MT Bold" panose="020F0704030504030204" pitchFamily="34" charset="0"/>
              </a:rPr>
              <a:t>Sleep Vs </a:t>
            </a:r>
            <a:r>
              <a:rPr lang="en-US" sz="2000" dirty="0" smtClean="0">
                <a:latin typeface="Arial Rounded MT Bold" panose="020F0704030504030204" pitchFamily="34" charset="0"/>
              </a:rPr>
              <a:t>Activity</a:t>
            </a:r>
            <a:endParaRPr lang="en-GB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A4E49AC7-7A73-4B51-BDF6-EABA3162F4B7}"/>
              </a:ext>
            </a:extLst>
          </p:cNvPr>
          <p:cNvSpPr txBox="1">
            <a:spLocks/>
          </p:cNvSpPr>
          <p:nvPr/>
        </p:nvSpPr>
        <p:spPr>
          <a:xfrm>
            <a:off x="3752556" y="559446"/>
            <a:ext cx="7550443" cy="344465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spc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spc="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900458" y="6418510"/>
            <a:ext cx="2261381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191551" y="1651000"/>
            <a:ext cx="10020932" cy="105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145" t="6895" b="2232"/>
          <a:stretch/>
        </p:blipFill>
        <p:spPr>
          <a:xfrm>
            <a:off x="4965700" y="1390694"/>
            <a:ext cx="6757048" cy="3879806"/>
          </a:xfrm>
          <a:prstGeom prst="rect">
            <a:avLst/>
          </a:prstGeom>
          <a:ln>
            <a:solidFill>
              <a:srgbClr val="01023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81001" y="1390694"/>
            <a:ext cx="4075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 Rounded MT Bold" panose="020F0704030504030204" pitchFamily="34" charset="0"/>
              </a:rPr>
              <a:t>Sleep Vs Activity</a:t>
            </a:r>
            <a:endParaRPr lang="en-GB" sz="2400" dirty="0">
              <a:latin typeface="Arial Rounded MT Bold" panose="020F07040305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1" y="2281772"/>
            <a:ext cx="3898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weak </a:t>
            </a:r>
            <a:r>
              <a:rPr lang="en-US" dirty="0" smtClean="0"/>
              <a:t>positive </a:t>
            </a:r>
            <a:r>
              <a:rPr lang="en-US" dirty="0"/>
              <a:t>relationship between physical activity and sleep duration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Physical </a:t>
            </a:r>
            <a:r>
              <a:rPr lang="en-US" dirty="0"/>
              <a:t>Activity Has a Limited Impact on Sleep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7" name="Oval 6"/>
          <p:cNvSpPr/>
          <p:nvPr/>
        </p:nvSpPr>
        <p:spPr>
          <a:xfrm>
            <a:off x="5155722" y="1890415"/>
            <a:ext cx="2032477" cy="211368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own Arrow 10"/>
          <p:cNvSpPr/>
          <p:nvPr/>
        </p:nvSpPr>
        <p:spPr>
          <a:xfrm rot="16200000">
            <a:off x="8369076" y="4223137"/>
            <a:ext cx="245069" cy="2606820"/>
          </a:xfrm>
          <a:prstGeom prst="downArrow">
            <a:avLst>
              <a:gd name="adj1" fmla="val 30547"/>
              <a:gd name="adj2" fmla="val 46758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Down Arrow 11"/>
          <p:cNvSpPr/>
          <p:nvPr/>
        </p:nvSpPr>
        <p:spPr>
          <a:xfrm rot="10800000">
            <a:off x="4628379" y="1394952"/>
            <a:ext cx="202131" cy="2609146"/>
          </a:xfrm>
          <a:prstGeom prst="downArrow">
            <a:avLst>
              <a:gd name="adj1" fmla="val 30547"/>
              <a:gd name="adj2" fmla="val 46758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170644" y="927054"/>
            <a:ext cx="111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70C0"/>
                </a:solidFill>
              </a:rPr>
              <a:t>Sleep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13547" y="5311775"/>
            <a:ext cx="1298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70C0"/>
                </a:solidFill>
              </a:rPr>
              <a:t>Activity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20400" y="1483027"/>
            <a:ext cx="831076" cy="340519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C00000"/>
                </a:solidFill>
              </a:rPr>
              <a:t>24 users</a:t>
            </a:r>
            <a:endParaRPr lang="en-GB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08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117601" y="1466740"/>
            <a:ext cx="10094882" cy="54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/>
          <p:cNvSpPr/>
          <p:nvPr/>
        </p:nvSpPr>
        <p:spPr>
          <a:xfrm>
            <a:off x="9930619" y="6427028"/>
            <a:ext cx="1993900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1290637"/>
            <a:ext cx="57150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7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181101" y="1452899"/>
            <a:ext cx="10031382" cy="54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V="1">
            <a:off x="905494" y="1675709"/>
            <a:ext cx="10095014" cy="8959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9930619" y="6427028"/>
            <a:ext cx="1993900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4677428" y="1151608"/>
            <a:ext cx="3422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sz="2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 Rounded MT Bold" panose="020F0704030504030204" pitchFamily="34" charset="0"/>
              </a:rPr>
              <a:t>Recommendations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905494" y="3251200"/>
            <a:ext cx="2819469" cy="2527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 </a:t>
            </a:r>
            <a:r>
              <a:rPr lang="en-US" dirty="0" err="1"/>
              <a:t>Bellabeat</a:t>
            </a:r>
            <a:r>
              <a:rPr lang="en-US" dirty="0"/>
              <a:t> as a balanced wellness companion, not an intensity-driven fitness </a:t>
            </a:r>
            <a:r>
              <a:rPr lang="en-US" dirty="0" smtClean="0"/>
              <a:t>tool.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942492" y="2386846"/>
            <a:ext cx="864208" cy="99542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1.</a:t>
            </a:r>
          </a:p>
        </p:txBody>
      </p:sp>
      <p:sp>
        <p:nvSpPr>
          <p:cNvPr id="9" name="Oval 8"/>
          <p:cNvSpPr/>
          <p:nvPr/>
        </p:nvSpPr>
        <p:spPr>
          <a:xfrm>
            <a:off x="3470894" y="3251200"/>
            <a:ext cx="2819469" cy="25273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Use time-based marketing campaigns aligned with peak user activity hours</a:t>
            </a:r>
          </a:p>
        </p:txBody>
      </p:sp>
      <p:sp>
        <p:nvSpPr>
          <p:cNvPr id="10" name="Oval 9"/>
          <p:cNvSpPr/>
          <p:nvPr/>
        </p:nvSpPr>
        <p:spPr>
          <a:xfrm>
            <a:off x="4507892" y="2386846"/>
            <a:ext cx="864208" cy="94871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en-US" sz="2200" dirty="0" smtClean="0">
                <a:solidFill>
                  <a:prstClr val="black"/>
                </a:solidFill>
              </a:rPr>
              <a:t>2.</a:t>
            </a:r>
          </a:p>
        </p:txBody>
      </p:sp>
      <p:sp>
        <p:nvSpPr>
          <p:cNvPr id="12" name="Oval 11"/>
          <p:cNvSpPr/>
          <p:nvPr/>
        </p:nvSpPr>
        <p:spPr>
          <a:xfrm>
            <a:off x="6036294" y="3251200"/>
            <a:ext cx="2819469" cy="2527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lightly and fairly active users with achievable, habit-forming wellness </a:t>
            </a:r>
            <a:r>
              <a:rPr lang="en-US" dirty="0" smtClean="0"/>
              <a:t>messaging.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7073292" y="2386846"/>
            <a:ext cx="864208" cy="10819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en-US" sz="2100" dirty="0">
                <a:solidFill>
                  <a:prstClr val="black"/>
                </a:solidFill>
              </a:rPr>
              <a:t>3</a:t>
            </a:r>
            <a:r>
              <a:rPr lang="en-US" sz="2100" dirty="0" smtClean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8720429" y="3204468"/>
            <a:ext cx="2819469" cy="25273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Personalize marketing content and in-app messaging using activity insights</a:t>
            </a:r>
          </a:p>
        </p:txBody>
      </p:sp>
      <p:sp>
        <p:nvSpPr>
          <p:cNvPr id="16" name="Oval 15"/>
          <p:cNvSpPr/>
          <p:nvPr/>
        </p:nvSpPr>
        <p:spPr>
          <a:xfrm>
            <a:off x="9757427" y="2340114"/>
            <a:ext cx="864208" cy="94871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en-US" sz="2200" dirty="0">
                <a:solidFill>
                  <a:prstClr val="black"/>
                </a:solidFill>
              </a:rPr>
              <a:t>4</a:t>
            </a:r>
            <a:r>
              <a:rPr lang="en-US" sz="2200" dirty="0" smtClean="0">
                <a:solidFill>
                  <a:prstClr val="black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512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130300" y="1606440"/>
            <a:ext cx="10185400" cy="54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/>
          <p:cNvSpPr/>
          <p:nvPr/>
        </p:nvSpPr>
        <p:spPr>
          <a:xfrm>
            <a:off x="9930619" y="6427028"/>
            <a:ext cx="1993900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1701110"/>
            <a:ext cx="55245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92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181101" y="1452899"/>
            <a:ext cx="10031382" cy="54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V="1">
            <a:off x="905494" y="1675709"/>
            <a:ext cx="10095014" cy="8959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9930619" y="6427028"/>
            <a:ext cx="1993900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647700" y="2030596"/>
            <a:ext cx="1056478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This analysis demonstrates that smart device data provides valuable insights into user engagement with health and wellness tracking. While users tend to follow predictable activity </a:t>
            </a:r>
            <a:r>
              <a:rPr lang="en-US" sz="2400" dirty="0" smtClean="0">
                <a:solidFill>
                  <a:prstClr val="black"/>
                </a:solidFill>
              </a:rPr>
              <a:t>patterns, peaking </a:t>
            </a:r>
            <a:r>
              <a:rPr lang="en-US" sz="2400" dirty="0">
                <a:solidFill>
                  <a:prstClr val="black"/>
                </a:solidFill>
              </a:rPr>
              <a:t>on Saturdays and during </a:t>
            </a:r>
            <a:r>
              <a:rPr lang="en-US" sz="2400" dirty="0" smtClean="0">
                <a:solidFill>
                  <a:prstClr val="black"/>
                </a:solidFill>
              </a:rPr>
              <a:t>morning </a:t>
            </a:r>
            <a:r>
              <a:rPr lang="en-US" sz="2400" dirty="0">
                <a:solidFill>
                  <a:prstClr val="black"/>
                </a:solidFill>
              </a:rPr>
              <a:t>or </a:t>
            </a:r>
            <a:r>
              <a:rPr lang="en-US" sz="2400" dirty="0" smtClean="0">
                <a:solidFill>
                  <a:prstClr val="black"/>
                </a:solidFill>
              </a:rPr>
              <a:t>early evening hours, most </a:t>
            </a:r>
            <a:r>
              <a:rPr lang="en-US" sz="2400" dirty="0">
                <a:solidFill>
                  <a:prstClr val="black"/>
                </a:solidFill>
              </a:rPr>
              <a:t>do not consistently reach high activity thresholds. </a:t>
            </a:r>
            <a:endParaRPr lang="en-US" sz="2400" dirty="0" smtClean="0">
              <a:solidFill>
                <a:prstClr val="black"/>
              </a:solidFill>
            </a:endParaRPr>
          </a:p>
          <a:p>
            <a:pPr lvl="0" algn="just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</a:rPr>
              <a:t>Additionally, physical activity alone does not strongly influence sleep duration, highlighting the importance of a balanced approach to wellness</a:t>
            </a:r>
            <a:r>
              <a:rPr lang="en-US" sz="2400" dirty="0" smtClean="0">
                <a:solidFill>
                  <a:prstClr val="black"/>
                </a:solidFill>
              </a:rPr>
              <a:t>.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56031" y="1152489"/>
            <a:ext cx="21282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sz="2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 Rounded MT Bold" panose="020F0704030504030204" pitchFamily="34" charset="0"/>
              </a:rPr>
              <a:t>Conclusion</a:t>
            </a:r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82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65" y="3122885"/>
            <a:ext cx="10787270" cy="83064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THANK </a:t>
            </a:r>
            <a:r>
              <a:rPr lang="en-US" dirty="0" smtClean="0">
                <a:solidFill>
                  <a:schemeClr val="tx1"/>
                </a:solidFill>
              </a:rPr>
              <a:t>YOU!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930619" y="6427028"/>
            <a:ext cx="1993900" cy="406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81" y="1712387"/>
            <a:ext cx="10120237" cy="11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E71848-B78E-4D58-BFA5-D2D5918911CD}">
  <ds:schemaRefs>
    <ds:schemaRef ds:uri="http://schemas.microsoft.com/office/infopath/2007/PartnerControls"/>
    <ds:schemaRef ds:uri="http://purl.org/dc/terms/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9B3E157-1CAC-4231-A2EC-E93952D57E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B16AC2-D7DD-48B6-919A-4ADE887D75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308</Words>
  <Application>Microsoft Office PowerPoint</Application>
  <PresentationFormat>Widescreen</PresentationFormat>
  <Paragraphs>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Rounded MT Bold</vt:lpstr>
      <vt:lpstr>Bebas</vt:lpstr>
      <vt:lpstr>Calibri</vt:lpstr>
      <vt:lpstr>Calibri Light</vt:lpstr>
      <vt:lpstr>Gill Sans</vt:lpstr>
      <vt:lpstr>Retrospect</vt:lpstr>
      <vt:lpstr>Analysis Project</vt:lpstr>
      <vt:lpstr>Table of content</vt:lpstr>
      <vt:lpstr>Objective</vt:lpstr>
      <vt:lpstr>Data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2025-03-13T17:33:33Z</dcterms:created>
  <dcterms:modified xsi:type="dcterms:W3CDTF">2025-12-28T08:35:04Z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